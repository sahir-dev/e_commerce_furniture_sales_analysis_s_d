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73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13054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45722" y="1364010"/>
            <a:ext cx="245255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Aft>
                <a:spcPts val="1200"/>
              </a:spcAft>
              <a:buNone/>
            </a:pPr>
            <a:r>
              <a:rPr lang="en-US" sz="105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SCIENCE PROJECT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48607" y="1577354"/>
            <a:ext cx="8246638" cy="59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68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E-Commerce Furniture Sales Analysis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2752014" y="2792611"/>
            <a:ext cx="363997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1500"/>
              </a:spcBef>
              <a:buNone/>
            </a:pPr>
            <a:r>
              <a:rPr lang="en-US" sz="15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Modeling and Business Insights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77715" y="3592711"/>
            <a:ext cx="258842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Bef>
                <a:spcPts val="3000"/>
              </a:spcBef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AliExpress Dataset | 2,000 Products | 2024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690116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spcAft>
                <a:spcPts val="2250"/>
              </a:spcAft>
              <a:buNone/>
            </a:pPr>
            <a:r>
              <a:rPr lang="en-US" sz="2700" b="1" dirty="0">
                <a:solidFill>
                  <a:srgbClr val="16A0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Overview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1471166"/>
            <a:ext cx="4000500" cy="1024384"/>
          </a:xfrm>
          <a:prstGeom prst="roundRect">
            <a:avLst>
              <a:gd name="adj" fmla="val 7439"/>
            </a:avLst>
          </a:prstGeom>
          <a:solidFill>
            <a:srgbClr val="2525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1661666"/>
            <a:ext cx="1855661" cy="148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67"/>
              </a:lnSpc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16A0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71500" y="1905000"/>
            <a:ext cx="369189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e-commerce furniture sales to uncover pricing strategies and build predictive ML models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81000" y="2686050"/>
            <a:ext cx="4000500" cy="1767334"/>
          </a:xfrm>
          <a:prstGeom prst="roundRect">
            <a:avLst>
              <a:gd name="adj" fmla="val 4312"/>
            </a:avLst>
          </a:prstGeom>
          <a:solidFill>
            <a:srgbClr val="2525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71500" y="2876550"/>
            <a:ext cx="1855661" cy="148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67"/>
              </a:lnSpc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E74C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QUESTIONS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71500" y="3119884"/>
            <a:ext cx="3619500" cy="11430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pricing strategies drive higher sales?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does free shipping impact performance?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product categories perform best?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762500" y="1853208"/>
            <a:ext cx="4000500" cy="1229916"/>
          </a:xfrm>
          <a:prstGeom prst="roundRect">
            <a:avLst>
              <a:gd name="adj" fmla="val 6196"/>
            </a:avLst>
          </a:prstGeom>
          <a:solidFill>
            <a:srgbClr val="2525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953000" y="2043708"/>
            <a:ext cx="1855661" cy="148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67"/>
              </a:lnSpc>
              <a:spcAft>
                <a:spcPts val="1125"/>
              </a:spcAft>
              <a:buNone/>
            </a:pPr>
            <a:r>
              <a:rPr lang="en-US" sz="1050" b="1" dirty="0">
                <a:solidFill>
                  <a:srgbClr val="16A0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SUMMARY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942205" y="2334667"/>
            <a:ext cx="1101039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4942205" y="2746028"/>
            <a:ext cx="110103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6212156" y="2334667"/>
            <a:ext cx="1101039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46,987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6212156" y="2746028"/>
            <a:ext cx="110103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Units Sold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7482106" y="2334667"/>
            <a:ext cx="1101039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$156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7482106" y="2746028"/>
            <a:ext cx="110103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Price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4762500" y="3273623"/>
            <a:ext cx="4000500" cy="797570"/>
          </a:xfrm>
          <a:prstGeom prst="roundRect">
            <a:avLst>
              <a:gd name="adj" fmla="val 9554"/>
            </a:avLst>
          </a:prstGeom>
          <a:solidFill>
            <a:srgbClr val="2525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953000" y="3464123"/>
            <a:ext cx="1855661" cy="148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67"/>
              </a:lnSpc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16A0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STACK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953000" y="3707457"/>
            <a:ext cx="369189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| Pandas | Scikit-learn | Matplotlib | Seaborn</a:t>
            </a:r>
            <a:endParaRPr lang="en-US" sz="9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464344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spcAft>
                <a:spcPts val="2250"/>
              </a:spcAft>
              <a:buNone/>
            </a:pPr>
            <a:r>
              <a:rPr lang="en-US" sz="2700" b="1" dirty="0">
                <a:solidFill>
                  <a:srgbClr val="16A0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 Workflow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1245394"/>
            <a:ext cx="1554510" cy="1058912"/>
          </a:xfrm>
          <a:prstGeom prst="roundRect">
            <a:avLst>
              <a:gd name="adj" fmla="val 7196"/>
            </a:avLst>
          </a:prstGeom>
          <a:solidFill>
            <a:srgbClr val="2525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20903" y="1397794"/>
            <a:ext cx="12747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20903" y="1793974"/>
            <a:ext cx="127470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Loading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520903" y="2005310"/>
            <a:ext cx="127470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Import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2087910" y="1245394"/>
            <a:ext cx="1554510" cy="1058912"/>
          </a:xfrm>
          <a:prstGeom prst="roundRect">
            <a:avLst>
              <a:gd name="adj" fmla="val 7196"/>
            </a:avLst>
          </a:prstGeom>
          <a:solidFill>
            <a:srgbClr val="2525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227813" y="1397794"/>
            <a:ext cx="12747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227813" y="1793974"/>
            <a:ext cx="127470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Cleaning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2227813" y="2005310"/>
            <a:ext cx="127470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 Missing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3794820" y="1245394"/>
            <a:ext cx="1554510" cy="1058912"/>
          </a:xfrm>
          <a:prstGeom prst="roundRect">
            <a:avLst>
              <a:gd name="adj" fmla="val 7196"/>
            </a:avLst>
          </a:prstGeom>
          <a:solidFill>
            <a:srgbClr val="2525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934722" y="1397794"/>
            <a:ext cx="12747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934722" y="1793974"/>
            <a:ext cx="127470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Eng.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3934722" y="2005310"/>
            <a:ext cx="127470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New Features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5501729" y="1245394"/>
            <a:ext cx="1554510" cy="1058912"/>
          </a:xfrm>
          <a:prstGeom prst="roundRect">
            <a:avLst>
              <a:gd name="adj" fmla="val 7196"/>
            </a:avLst>
          </a:prstGeom>
          <a:solidFill>
            <a:srgbClr val="2525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641632" y="1397794"/>
            <a:ext cx="12747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641632" y="1793974"/>
            <a:ext cx="127470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5641632" y="2005310"/>
            <a:ext cx="127470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Visualizations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7208639" y="1245394"/>
            <a:ext cx="1554510" cy="1058912"/>
          </a:xfrm>
          <a:prstGeom prst="roundRect">
            <a:avLst>
              <a:gd name="adj" fmla="val 7196"/>
            </a:avLst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7348542" y="1397794"/>
            <a:ext cx="12747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348542" y="1793974"/>
            <a:ext cx="127470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Models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7348542" y="2005310"/>
            <a:ext cx="127470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Algorithms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381000" y="2742456"/>
            <a:ext cx="2667000" cy="1936700"/>
          </a:xfrm>
          <a:prstGeom prst="roundRect">
            <a:avLst>
              <a:gd name="adj" fmla="val 3935"/>
            </a:avLst>
          </a:prstGeom>
          <a:solidFill>
            <a:srgbClr val="2525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33400" y="2894856"/>
            <a:ext cx="1214438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0"/>
              </a:lnSpc>
              <a:spcAft>
                <a:spcPts val="750"/>
              </a:spcAft>
              <a:buNone/>
            </a:pPr>
            <a:r>
              <a:rPr lang="en-US" sz="900" b="1" dirty="0">
                <a:solidFill>
                  <a:srgbClr val="16A0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FEATURES CREATED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33400" y="3117056"/>
            <a:ext cx="2362200" cy="14097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cleaning and conversion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Discount percentage calculation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category extraction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3238500" y="2875806"/>
            <a:ext cx="2667000" cy="1670000"/>
          </a:xfrm>
          <a:prstGeom prst="roundRect">
            <a:avLst>
              <a:gd name="adj" fmla="val 4563"/>
            </a:avLst>
          </a:prstGeom>
          <a:solidFill>
            <a:srgbClr val="2525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390900" y="3028206"/>
            <a:ext cx="1214438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0"/>
              </a:lnSpc>
              <a:spcAft>
                <a:spcPts val="750"/>
              </a:spcAft>
              <a:buNone/>
            </a:pPr>
            <a:r>
              <a:rPr lang="en-US" sz="900" b="1" dirty="0">
                <a:solidFill>
                  <a:srgbClr val="16A0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MODELS TRAINED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390900" y="3250406"/>
            <a:ext cx="2362200" cy="11430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Linear, Ridge, Lasso Regression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Regressor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Boosting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096000" y="3009156"/>
            <a:ext cx="2667000" cy="1403300"/>
          </a:xfrm>
          <a:prstGeom prst="roundRect">
            <a:avLst>
              <a:gd name="adj" fmla="val 5430"/>
            </a:avLst>
          </a:prstGeom>
          <a:solidFill>
            <a:srgbClr val="2525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248400" y="3161556"/>
            <a:ext cx="1214438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0"/>
              </a:lnSpc>
              <a:spcAft>
                <a:spcPts val="750"/>
              </a:spcAft>
              <a:buNone/>
            </a:pPr>
            <a:r>
              <a:rPr lang="en-US" sz="900" b="1" dirty="0">
                <a:solidFill>
                  <a:srgbClr val="16A0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DELIVERABLES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48400" y="3383756"/>
            <a:ext cx="2362200" cy="8763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Cleaned dataset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Trained model files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insights report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663476"/>
            <a:ext cx="498405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spcAft>
                <a:spcPts val="2250"/>
              </a:spcAft>
              <a:buNone/>
            </a:pPr>
            <a:r>
              <a:rPr lang="en-US" sz="2700" b="1" dirty="0">
                <a:solidFill>
                  <a:srgbClr val="16A0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 #1: Discount Impact</a:t>
            </a:r>
            <a:endParaRPr lang="en-US" sz="2700" dirty="0"/>
          </a:p>
        </p:txBody>
      </p:sp>
      <p:pic>
        <p:nvPicPr>
          <p:cNvPr id="3" name="Image 0" descr="/tmp/rasterized-gradient-e116c93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893540"/>
            <a:ext cx="3200400" cy="213732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7616" y="2274540"/>
            <a:ext cx="2487168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4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9.8x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737616" y="3436590"/>
            <a:ext cx="248716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Bef>
                <a:spcPts val="750"/>
              </a:spcBef>
              <a:buNone/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Sales with Discounts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962400" y="1444526"/>
            <a:ext cx="4800600" cy="1140470"/>
          </a:xfrm>
          <a:prstGeom prst="roundRect">
            <a:avLst>
              <a:gd name="adj" fmla="val 6681"/>
            </a:avLst>
          </a:prstGeom>
          <a:solidFill>
            <a:srgbClr val="2525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3981450" y="1444526"/>
            <a:ext cx="0" cy="1140470"/>
          </a:xfrm>
          <a:prstGeom prst="line">
            <a:avLst/>
          </a:prstGeom>
          <a:noFill/>
          <a:ln w="38100">
            <a:solidFill>
              <a:srgbClr val="E74C3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91000" y="1635026"/>
            <a:ext cx="2244281" cy="148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67"/>
              </a:lnSpc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E74C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UNTAPPED OPPORTUNITY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191000" y="1878360"/>
            <a:ext cx="44691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23.3% of products are discounted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191000" y="2221260"/>
            <a:ext cx="446913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600"/>
              </a:spcBef>
              <a:buNone/>
            </a:pPr>
            <a:r>
              <a:rPr lang="en-US" sz="975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466 out of 2,000 products have discounts applied</a:t>
            </a:r>
            <a:endParaRPr lang="en-US" sz="975" dirty="0"/>
          </a:p>
        </p:txBody>
      </p:sp>
      <p:sp>
        <p:nvSpPr>
          <p:cNvPr id="11" name="Text 8"/>
          <p:cNvSpPr/>
          <p:nvPr/>
        </p:nvSpPr>
        <p:spPr>
          <a:xfrm>
            <a:off x="3962400" y="2775496"/>
            <a:ext cx="2324100" cy="862757"/>
          </a:xfrm>
          <a:prstGeom prst="roundRect">
            <a:avLst>
              <a:gd name="adj" fmla="val 8832"/>
            </a:avLst>
          </a:prstGeom>
          <a:solidFill>
            <a:srgbClr val="2525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4094607" y="2927896"/>
            <a:ext cx="2059686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7.7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4094607" y="3339257"/>
            <a:ext cx="20596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Sales (No Discount)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6438900" y="2775496"/>
            <a:ext cx="2324100" cy="862757"/>
          </a:xfrm>
          <a:prstGeom prst="roundRect">
            <a:avLst>
              <a:gd name="adj" fmla="val 8832"/>
            </a:avLst>
          </a:prstGeom>
          <a:solidFill>
            <a:srgbClr val="2525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6571107" y="2927896"/>
            <a:ext cx="2059686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75.4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6571107" y="3339257"/>
            <a:ext cx="20596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Sales (Discounted)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3962400" y="3828752"/>
            <a:ext cx="4800600" cy="651272"/>
          </a:xfrm>
          <a:prstGeom prst="roundRect">
            <a:avLst>
              <a:gd name="adj" fmla="val 11700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4114800" y="3981152"/>
            <a:ext cx="4585716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INSIGHT: Discounting is the single most powerful sales driver. Strategic discount programs could dramatically increase overall sales volume.</a:t>
            </a:r>
            <a:endParaRPr lang="en-US" sz="9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424904"/>
            <a:ext cx="500348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spcAft>
                <a:spcPts val="2250"/>
              </a:spcAft>
              <a:buNone/>
            </a:pPr>
            <a:r>
              <a:rPr lang="en-US" sz="2700" b="1" dirty="0">
                <a:solidFill>
                  <a:srgbClr val="16A0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 #2: Price Sweet Spot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2002334"/>
            <a:ext cx="2253996" cy="148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67"/>
              </a:lnSpc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16A0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AVERAGE SALES BY PRICE TIER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1000" y="2432298"/>
            <a:ext cx="116586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(&lt;$50)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38300" y="2359968"/>
            <a:ext cx="2552700" cy="304800"/>
          </a:xfrm>
          <a:prstGeom prst="roundRect">
            <a:avLst>
              <a:gd name="adj" fmla="val 12500"/>
            </a:avLst>
          </a:prstGeom>
          <a:solidFill>
            <a:srgbClr val="2525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638300" y="2359968"/>
            <a:ext cx="2552700" cy="304800"/>
          </a:xfrm>
          <a:prstGeom prst="roundRect">
            <a:avLst>
              <a:gd name="adj" fmla="val 12500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305300" y="2419052"/>
            <a:ext cx="48577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72.1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81000" y="2851398"/>
            <a:ext cx="116586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Mid-Range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638300" y="2779068"/>
            <a:ext cx="2552700" cy="304800"/>
          </a:xfrm>
          <a:prstGeom prst="roundRect">
            <a:avLst>
              <a:gd name="adj" fmla="val 12500"/>
            </a:avLst>
          </a:prstGeom>
          <a:solidFill>
            <a:srgbClr val="2525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638300" y="2779068"/>
            <a:ext cx="306288" cy="304800"/>
          </a:xfrm>
          <a:prstGeom prst="roundRect">
            <a:avLst>
              <a:gd name="adj" fmla="val 12500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305300" y="2838152"/>
            <a:ext cx="48577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8.8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81000" y="3270498"/>
            <a:ext cx="116586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638300" y="3198168"/>
            <a:ext cx="2552700" cy="304800"/>
          </a:xfrm>
          <a:prstGeom prst="roundRect">
            <a:avLst>
              <a:gd name="adj" fmla="val 12500"/>
            </a:avLst>
          </a:prstGeom>
          <a:solidFill>
            <a:srgbClr val="2525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638300" y="3198168"/>
            <a:ext cx="178594" cy="304800"/>
          </a:xfrm>
          <a:prstGeom prst="roundRect">
            <a:avLst>
              <a:gd name="adj" fmla="val 21333"/>
            </a:avLst>
          </a:prstGeom>
          <a:solidFill>
            <a:srgbClr val="9B59B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305300" y="3257252"/>
            <a:ext cx="48577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81000" y="3689598"/>
            <a:ext cx="116586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Luxury ($300+)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38300" y="3617268"/>
            <a:ext cx="2552700" cy="304800"/>
          </a:xfrm>
          <a:prstGeom prst="roundRect">
            <a:avLst>
              <a:gd name="adj" fmla="val 12500"/>
            </a:avLst>
          </a:prstGeom>
          <a:solidFill>
            <a:srgbClr val="2525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638300" y="3617268"/>
            <a:ext cx="127546" cy="304800"/>
          </a:xfrm>
          <a:prstGeom prst="roundRect">
            <a:avLst>
              <a:gd name="adj" fmla="val 29872"/>
            </a:avLst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305300" y="3676352"/>
            <a:ext cx="48577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</a:t>
            </a:r>
            <a:endParaRPr lang="en-US" sz="1050" dirty="0"/>
          </a:p>
        </p:txBody>
      </p:sp>
      <p:pic>
        <p:nvPicPr>
          <p:cNvPr id="20" name="Image 0" descr="/tmp/rasterized-gradient-5ae1193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2550" y="1205954"/>
            <a:ext cx="3600450" cy="1748582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418011" y="1491704"/>
            <a:ext cx="308952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Optimal Price Range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418011" y="1773585"/>
            <a:ext cx="3089529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040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$30 - $100</a:t>
            </a:r>
            <a:endParaRPr lang="en-US" sz="3600" dirty="0"/>
          </a:p>
        </p:txBody>
      </p:sp>
      <p:sp>
        <p:nvSpPr>
          <p:cNvPr id="23" name="Text 20"/>
          <p:cNvSpPr/>
          <p:nvPr/>
        </p:nvSpPr>
        <p:spPr>
          <a:xfrm>
            <a:off x="5418011" y="2508796"/>
            <a:ext cx="308952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 of volume and margin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5162550" y="3145036"/>
            <a:ext cx="3600450" cy="796230"/>
          </a:xfrm>
          <a:prstGeom prst="roundRect">
            <a:avLst>
              <a:gd name="adj" fmla="val 9570"/>
            </a:avLst>
          </a:prstGeom>
          <a:solidFill>
            <a:srgbClr val="2525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5299424" y="3297436"/>
            <a:ext cx="158362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$114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5299424" y="3655516"/>
            <a:ext cx="158362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Price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7042499" y="3297436"/>
            <a:ext cx="158362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$157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7042499" y="3655516"/>
            <a:ext cx="158362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Price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5162550" y="4131766"/>
            <a:ext cx="3600450" cy="586680"/>
          </a:xfrm>
          <a:prstGeom prst="roundRect">
            <a:avLst>
              <a:gd name="adj" fmla="val 12988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5295900" y="4265116"/>
            <a:ext cx="340042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INSIGHT: Budget items sell 20x more than luxury items. Focus inventory on high-volume price points.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543669"/>
            <a:ext cx="590702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spcAft>
                <a:spcPts val="2250"/>
              </a:spcAft>
              <a:buNone/>
            </a:pPr>
            <a:r>
              <a:rPr lang="en-US" sz="2700" b="1" dirty="0">
                <a:solidFill>
                  <a:srgbClr val="16A0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 #3: Category Performance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1935659"/>
            <a:ext cx="2253996" cy="148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67"/>
              </a:lnSpc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16A0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TOTAL SALES BY CATEGORY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65760" y="2327523"/>
            <a:ext cx="7772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260"/>
              </a:lnSpc>
              <a:buNone/>
            </a:pPr>
            <a:r>
              <a:rPr lang="en-US" sz="9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257300" y="2274243"/>
            <a:ext cx="2838450" cy="266700"/>
          </a:xfrm>
          <a:prstGeom prst="roundRect">
            <a:avLst>
              <a:gd name="adj" fmla="val 14286"/>
            </a:avLst>
          </a:prstGeom>
          <a:solidFill>
            <a:srgbClr val="2525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257300" y="2274243"/>
            <a:ext cx="2838450" cy="266700"/>
          </a:xfrm>
          <a:prstGeom prst="roundRect">
            <a:avLst>
              <a:gd name="adj" fmla="val 14286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210050" y="2320975"/>
            <a:ext cx="58293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19,601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365760" y="2689473"/>
            <a:ext cx="7772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260"/>
              </a:lnSpc>
              <a:buNone/>
            </a:pPr>
            <a:r>
              <a:rPr lang="en-US" sz="9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257300" y="2636193"/>
            <a:ext cx="2838450" cy="266700"/>
          </a:xfrm>
          <a:prstGeom prst="roundRect">
            <a:avLst>
              <a:gd name="adj" fmla="val 14286"/>
            </a:avLst>
          </a:prstGeom>
          <a:solidFill>
            <a:srgbClr val="2525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257300" y="2636193"/>
            <a:ext cx="1901726" cy="266700"/>
          </a:xfrm>
          <a:prstGeom prst="roundRect">
            <a:avLst>
              <a:gd name="adj" fmla="val 14286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210050" y="2682925"/>
            <a:ext cx="58293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13,149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365760" y="3051423"/>
            <a:ext cx="7772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260"/>
              </a:lnSpc>
              <a:buNone/>
            </a:pPr>
            <a:r>
              <a:rPr lang="en-US" sz="9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257300" y="2998143"/>
            <a:ext cx="2838450" cy="266700"/>
          </a:xfrm>
          <a:prstGeom prst="roundRect">
            <a:avLst>
              <a:gd name="adj" fmla="val 14286"/>
            </a:avLst>
          </a:prstGeom>
          <a:solidFill>
            <a:srgbClr val="2525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257300" y="2998143"/>
            <a:ext cx="596057" cy="266700"/>
          </a:xfrm>
          <a:prstGeom prst="roundRect">
            <a:avLst>
              <a:gd name="adj" fmla="val 14286"/>
            </a:avLst>
          </a:prstGeom>
          <a:solidFill>
            <a:srgbClr val="9B59B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210050" y="3044875"/>
            <a:ext cx="58293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4,026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365760" y="3413373"/>
            <a:ext cx="7772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260"/>
              </a:lnSpc>
              <a:buNone/>
            </a:pPr>
            <a:r>
              <a:rPr lang="en-US" sz="9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Dresser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257300" y="3360093"/>
            <a:ext cx="2838450" cy="266700"/>
          </a:xfrm>
          <a:prstGeom prst="roundRect">
            <a:avLst>
              <a:gd name="adj" fmla="val 14286"/>
            </a:avLst>
          </a:prstGeom>
          <a:solidFill>
            <a:srgbClr val="2525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257300" y="3360093"/>
            <a:ext cx="539204" cy="266700"/>
          </a:xfrm>
          <a:prstGeom prst="roundRect">
            <a:avLst>
              <a:gd name="adj" fmla="val 14286"/>
            </a:avLst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210050" y="3406825"/>
            <a:ext cx="58293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3,659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365760" y="3775323"/>
            <a:ext cx="7772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260"/>
              </a:lnSpc>
              <a:buNone/>
            </a:pPr>
            <a:r>
              <a:rPr lang="en-US" sz="9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257300" y="3722043"/>
            <a:ext cx="2838450" cy="266700"/>
          </a:xfrm>
          <a:prstGeom prst="roundRect">
            <a:avLst>
              <a:gd name="adj" fmla="val 14286"/>
            </a:avLst>
          </a:prstGeom>
          <a:solidFill>
            <a:srgbClr val="2525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257300" y="3722043"/>
            <a:ext cx="482501" cy="266700"/>
          </a:xfrm>
          <a:prstGeom prst="roundRect">
            <a:avLst>
              <a:gd name="adj" fmla="val 14286"/>
            </a:avLst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210050" y="3768775"/>
            <a:ext cx="58293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3,304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5162550" y="1324719"/>
            <a:ext cx="3600450" cy="1236464"/>
          </a:xfrm>
          <a:prstGeom prst="roundRect">
            <a:avLst>
              <a:gd name="adj" fmla="val 9244"/>
            </a:avLst>
          </a:prstGeom>
          <a:solidFill>
            <a:srgbClr val="2525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353050" y="1515219"/>
            <a:ext cx="1651635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3"/>
              </a:lnSpc>
              <a:spcAft>
                <a:spcPts val="900"/>
              </a:spcAft>
              <a:buNone/>
            </a:pPr>
            <a:r>
              <a:rPr lang="en-US" sz="975" b="1" dirty="0">
                <a:solidFill>
                  <a:srgbClr val="16A0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PERFORMER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5353050" y="1767036"/>
            <a:ext cx="3283839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Chairs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5353050" y="2197447"/>
            <a:ext cx="328383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450"/>
              </a:spcBef>
              <a:buNone/>
            </a:pPr>
            <a:r>
              <a:rPr lang="en-US" sz="975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41.7% of all sales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5194744" y="2704252"/>
            <a:ext cx="3600450" cy="1147167"/>
          </a:xfrm>
          <a:prstGeom prst="roundRect">
            <a:avLst>
              <a:gd name="adj" fmla="val 6642"/>
            </a:avLst>
          </a:prstGeom>
          <a:solidFill>
            <a:srgbClr val="2525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314950" y="2865983"/>
            <a:ext cx="1690497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3"/>
              </a:lnSpc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16A0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AVG SALES PER PRODUCT</a:t>
            </a:r>
            <a:endParaRPr lang="en-US" sz="975" dirty="0"/>
          </a:p>
        </p:txBody>
      </p:sp>
      <p:sp>
        <p:nvSpPr>
          <p:cNvPr id="30" name="Text 28"/>
          <p:cNvSpPr/>
          <p:nvPr/>
        </p:nvSpPr>
        <p:spPr>
          <a:xfrm>
            <a:off x="5314950" y="3098750"/>
            <a:ext cx="1022300" cy="609600"/>
          </a:xfrm>
          <a:prstGeom prst="roundRect">
            <a:avLst>
              <a:gd name="adj" fmla="val 9375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401882" y="3194000"/>
            <a:ext cx="8484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41.3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401882" y="3479750"/>
            <a:ext cx="84843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Chair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6451550" y="3098750"/>
            <a:ext cx="1022300" cy="609600"/>
          </a:xfrm>
          <a:prstGeom prst="roundRect">
            <a:avLst>
              <a:gd name="adj" fmla="val 9375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538482" y="3194000"/>
            <a:ext cx="8484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22.4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538482" y="3479750"/>
            <a:ext cx="84843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7588151" y="3098750"/>
            <a:ext cx="1022300" cy="609600"/>
          </a:xfrm>
          <a:prstGeom prst="roundRect">
            <a:avLst>
              <a:gd name="adj" fmla="val 9375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7675083" y="3194000"/>
            <a:ext cx="8484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16.9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7675083" y="3479750"/>
            <a:ext cx="84843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Dresser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5162550" y="4013150"/>
            <a:ext cx="3600450" cy="586680"/>
          </a:xfrm>
          <a:prstGeom prst="roundRect">
            <a:avLst>
              <a:gd name="adj" fmla="val 12988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295900" y="4146500"/>
            <a:ext cx="340042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INSIGHT: Chair and Table categories account for 70% of total sales. Prioritize inventory in these categories.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750838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spcAft>
                <a:spcPts val="2250"/>
              </a:spcAft>
              <a:buNone/>
            </a:pPr>
            <a:r>
              <a:rPr lang="en-US" sz="2700" b="1" dirty="0">
                <a:solidFill>
                  <a:srgbClr val="16A0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Machine Learning Results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1531888"/>
            <a:ext cx="2244281" cy="148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67"/>
              </a:lnSpc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16A0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COMPARISON (R² SCORE)</a:t>
            </a:r>
            <a:endParaRPr lang="en-US" sz="1050" dirty="0"/>
          </a:p>
        </p:txBody>
      </p:sp>
      <p:pic>
        <p:nvPicPr>
          <p:cNvPr id="4" name="Image 0" descr="/tmp/rasterized-gradient-492fbe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889522"/>
            <a:ext cx="4000500" cy="56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14350" y="2076152"/>
            <a:ext cx="148874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(BEST)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3723680" y="2022872"/>
            <a:ext cx="534960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0.338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381000" y="2563862"/>
            <a:ext cx="4000500" cy="533400"/>
          </a:xfrm>
          <a:prstGeom prst="roundRect">
            <a:avLst>
              <a:gd name="adj" fmla="val 14286"/>
            </a:avLst>
          </a:prstGeom>
          <a:solidFill>
            <a:srgbClr val="2525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14350" y="2737247"/>
            <a:ext cx="108889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Boosting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771305" y="2697212"/>
            <a:ext cx="48638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0.334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81000" y="3211562"/>
            <a:ext cx="4000500" cy="533400"/>
          </a:xfrm>
          <a:prstGeom prst="roundRect">
            <a:avLst>
              <a:gd name="adj" fmla="val 14286"/>
            </a:avLst>
          </a:prstGeom>
          <a:solidFill>
            <a:srgbClr val="2525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514350" y="3384947"/>
            <a:ext cx="108130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Ridge Regression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771305" y="3344912"/>
            <a:ext cx="48638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0.285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81000" y="3859262"/>
            <a:ext cx="4000500" cy="533400"/>
          </a:xfrm>
          <a:prstGeom prst="roundRect">
            <a:avLst>
              <a:gd name="adj" fmla="val 14286"/>
            </a:avLst>
          </a:prstGeom>
          <a:solidFill>
            <a:srgbClr val="2525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514350" y="4032647"/>
            <a:ext cx="110392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Regression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3771305" y="3992612"/>
            <a:ext cx="48638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0.280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762500" y="1617018"/>
            <a:ext cx="4000500" cy="1482328"/>
          </a:xfrm>
          <a:prstGeom prst="roundRect">
            <a:avLst>
              <a:gd name="adj" fmla="val 5141"/>
            </a:avLst>
          </a:prstGeom>
          <a:solidFill>
            <a:srgbClr val="2525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4933950" y="1788468"/>
            <a:ext cx="1875091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3"/>
              </a:lnSpc>
              <a:spcAft>
                <a:spcPts val="1050"/>
              </a:spcAft>
              <a:buNone/>
            </a:pPr>
            <a:r>
              <a:rPr lang="en-US" sz="975" b="1" dirty="0">
                <a:solidFill>
                  <a:srgbClr val="16A0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PREDICTIVE FEATURES</a:t>
            </a:r>
            <a:endParaRPr lang="en-US" sz="975" dirty="0"/>
          </a:p>
        </p:txBody>
      </p:sp>
      <p:sp>
        <p:nvSpPr>
          <p:cNvPr id="18" name="Text 15"/>
          <p:cNvSpPr/>
          <p:nvPr/>
        </p:nvSpPr>
        <p:spPr>
          <a:xfrm>
            <a:off x="4933950" y="2066032"/>
            <a:ext cx="87439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5886450" y="2063055"/>
            <a:ext cx="2181225" cy="152400"/>
          </a:xfrm>
          <a:prstGeom prst="roundRect">
            <a:avLst>
              <a:gd name="adj" fmla="val 18750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5886450" y="2063055"/>
            <a:ext cx="2181225" cy="152400"/>
          </a:xfrm>
          <a:prstGeom prst="roundRect">
            <a:avLst>
              <a:gd name="adj" fmla="val 18750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8162925" y="2059335"/>
            <a:ext cx="43719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48.1%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933950" y="2302222"/>
            <a:ext cx="87439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Discount %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5886450" y="2299246"/>
            <a:ext cx="2181225" cy="152400"/>
          </a:xfrm>
          <a:prstGeom prst="roundRect">
            <a:avLst>
              <a:gd name="adj" fmla="val 18750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5886450" y="2299246"/>
            <a:ext cx="916037" cy="152400"/>
          </a:xfrm>
          <a:prstGeom prst="roundRect">
            <a:avLst>
              <a:gd name="adj" fmla="val 18750"/>
            </a:avLst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8162925" y="2295525"/>
            <a:ext cx="43719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20.1%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4933950" y="2538413"/>
            <a:ext cx="87439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Length</a:t>
            </a:r>
            <a:endParaRPr lang="en-US" sz="825" dirty="0"/>
          </a:p>
        </p:txBody>
      </p:sp>
      <p:sp>
        <p:nvSpPr>
          <p:cNvPr id="27" name="Text 24"/>
          <p:cNvSpPr/>
          <p:nvPr/>
        </p:nvSpPr>
        <p:spPr>
          <a:xfrm>
            <a:off x="5886450" y="2535436"/>
            <a:ext cx="2181225" cy="152400"/>
          </a:xfrm>
          <a:prstGeom prst="roundRect">
            <a:avLst>
              <a:gd name="adj" fmla="val 18750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5886450" y="2535436"/>
            <a:ext cx="588913" cy="152400"/>
          </a:xfrm>
          <a:prstGeom prst="roundRect">
            <a:avLst>
              <a:gd name="adj" fmla="val 18750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8162925" y="2531715"/>
            <a:ext cx="43719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13.1%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4933950" y="2774603"/>
            <a:ext cx="87439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</a:t>
            </a:r>
            <a:endParaRPr lang="en-US" sz="825" dirty="0"/>
          </a:p>
        </p:txBody>
      </p:sp>
      <p:sp>
        <p:nvSpPr>
          <p:cNvPr id="31" name="Text 28"/>
          <p:cNvSpPr/>
          <p:nvPr/>
        </p:nvSpPr>
        <p:spPr>
          <a:xfrm>
            <a:off x="5886450" y="2771626"/>
            <a:ext cx="2181225" cy="152400"/>
          </a:xfrm>
          <a:prstGeom prst="roundRect">
            <a:avLst>
              <a:gd name="adj" fmla="val 18750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5886450" y="2771626"/>
            <a:ext cx="283518" cy="152400"/>
          </a:xfrm>
          <a:prstGeom prst="roundRect">
            <a:avLst>
              <a:gd name="adj" fmla="val 18750"/>
            </a:avLst>
          </a:prstGeom>
          <a:solidFill>
            <a:srgbClr val="9B59B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8162925" y="2767905"/>
            <a:ext cx="43719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6.4%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4762500" y="3251746"/>
            <a:ext cx="4000500" cy="1055638"/>
          </a:xfrm>
          <a:prstGeom prst="roundRect">
            <a:avLst>
              <a:gd name="adj" fmla="val 7218"/>
            </a:avLst>
          </a:prstGeom>
          <a:solidFill>
            <a:srgbClr val="2525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4914900" y="3404146"/>
            <a:ext cx="1894523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3"/>
              </a:lnSpc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16A0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BEST MODEL METRICS</a:t>
            </a:r>
            <a:endParaRPr lang="en-US" sz="975" dirty="0"/>
          </a:p>
        </p:txBody>
      </p:sp>
      <p:sp>
        <p:nvSpPr>
          <p:cNvPr id="36" name="Text 33"/>
          <p:cNvSpPr/>
          <p:nvPr/>
        </p:nvSpPr>
        <p:spPr>
          <a:xfrm>
            <a:off x="4897374" y="3636913"/>
            <a:ext cx="1787652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3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33.8%</a:t>
            </a:r>
            <a:endParaRPr lang="en-US" sz="1950" dirty="0"/>
          </a:p>
        </p:txBody>
      </p:sp>
      <p:sp>
        <p:nvSpPr>
          <p:cNvPr id="37" name="Text 34"/>
          <p:cNvSpPr/>
          <p:nvPr/>
        </p:nvSpPr>
        <p:spPr>
          <a:xfrm>
            <a:off x="4897374" y="4021634"/>
            <a:ext cx="178765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Variance Explained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6840474" y="3636913"/>
            <a:ext cx="1787652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3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16.5</a:t>
            </a:r>
            <a:endParaRPr lang="en-US" sz="1950" dirty="0"/>
          </a:p>
        </p:txBody>
      </p:sp>
      <p:sp>
        <p:nvSpPr>
          <p:cNvPr id="39" name="Text 36"/>
          <p:cNvSpPr/>
          <p:nvPr/>
        </p:nvSpPr>
        <p:spPr>
          <a:xfrm>
            <a:off x="6840474" y="4021634"/>
            <a:ext cx="178765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 (units)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31291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spcAft>
                <a:spcPts val="1800"/>
              </a:spcAft>
              <a:buNone/>
            </a:pPr>
            <a:r>
              <a:rPr lang="en-US" sz="2700" b="1" dirty="0">
                <a:solidFill>
                  <a:srgbClr val="16A0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Recommendations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1055191"/>
            <a:ext cx="4114800" cy="1238696"/>
          </a:xfrm>
          <a:prstGeom prst="roundRect">
            <a:avLst>
              <a:gd name="adj" fmla="val 7690"/>
            </a:avLst>
          </a:prstGeom>
          <a:solidFill>
            <a:srgbClr val="2525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381000" y="1074241"/>
            <a:ext cx="4114800" cy="0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52450" y="1264741"/>
            <a:ext cx="1933385" cy="15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spcAft>
                <a:spcPts val="750"/>
              </a:spcAft>
              <a:buNone/>
            </a:pPr>
            <a:r>
              <a:rPr lang="en-US" sz="1125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Strategic Discounting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552450" y="1518642"/>
            <a:ext cx="38473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targeted discount programs. With only 23% of products discounted and 9.8x sales lift, there is massive untapped potential.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52450" y="1975842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900"/>
              </a:spcBef>
              <a:buNone/>
            </a:pPr>
            <a:r>
              <a:rPr lang="en-US" sz="825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40-50% discount on slow-movers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4648200" y="1055191"/>
            <a:ext cx="4114800" cy="1238696"/>
          </a:xfrm>
          <a:prstGeom prst="roundRect">
            <a:avLst>
              <a:gd name="adj" fmla="val 7690"/>
            </a:avLst>
          </a:prstGeom>
          <a:solidFill>
            <a:srgbClr val="2525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648200" y="1074241"/>
            <a:ext cx="4114800" cy="0"/>
          </a:xfrm>
          <a:prstGeom prst="line">
            <a:avLst/>
          </a:prstGeom>
          <a:noFill/>
          <a:ln w="38100">
            <a:solidFill>
              <a:srgbClr val="3498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19650" y="1264741"/>
            <a:ext cx="1933385" cy="15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spcAft>
                <a:spcPts val="750"/>
              </a:spcAft>
              <a:buNone/>
            </a:pPr>
            <a:r>
              <a:rPr lang="en-US" sz="1125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Price Optimization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4819650" y="1518642"/>
            <a:ext cx="38473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inventory on the $30-$100 sweet spot. Budget items sell 20x more than luxury items.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19650" y="1975842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900"/>
              </a:spcBef>
              <a:buNone/>
            </a:pPr>
            <a:r>
              <a:rPr lang="en-US" sz="825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Rebalance SKU mix toward mid-range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381000" y="2598688"/>
            <a:ext cx="4114800" cy="1238696"/>
          </a:xfrm>
          <a:prstGeom prst="roundRect">
            <a:avLst>
              <a:gd name="adj" fmla="val 7690"/>
            </a:avLst>
          </a:prstGeom>
          <a:solidFill>
            <a:srgbClr val="2525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81000" y="2617738"/>
            <a:ext cx="4114800" cy="0"/>
          </a:xfrm>
          <a:prstGeom prst="line">
            <a:avLst/>
          </a:prstGeom>
          <a:noFill/>
          <a:ln w="38100">
            <a:solidFill>
              <a:srgbClr val="9B59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2450" y="2808238"/>
            <a:ext cx="1933385" cy="15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spcAft>
                <a:spcPts val="750"/>
              </a:spcAft>
              <a:buNone/>
            </a:pPr>
            <a:r>
              <a:rPr lang="en-US" sz="1125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Category Focus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552450" y="3062139"/>
            <a:ext cx="38473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 down on Chairs and Tables which drive 70% of total sales. Expand variety in these categories.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52450" y="3519339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900"/>
              </a:spcBef>
              <a:buNone/>
            </a:pPr>
            <a:r>
              <a:rPr lang="en-US" sz="825" b="1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Chairs: 41 avg sales per product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4648200" y="2598688"/>
            <a:ext cx="4114800" cy="1238696"/>
          </a:xfrm>
          <a:prstGeom prst="roundRect">
            <a:avLst>
              <a:gd name="adj" fmla="val 7690"/>
            </a:avLst>
          </a:prstGeom>
          <a:solidFill>
            <a:srgbClr val="2525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648200" y="2617738"/>
            <a:ext cx="4114800" cy="0"/>
          </a:xfrm>
          <a:prstGeom prst="line">
            <a:avLst/>
          </a:prstGeom>
          <a:noFill/>
          <a:ln w="38100">
            <a:solidFill>
              <a:srgbClr val="E67E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19650" y="2808238"/>
            <a:ext cx="1933385" cy="15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spcAft>
                <a:spcPts val="750"/>
              </a:spcAft>
              <a:buNone/>
            </a:pPr>
            <a:r>
              <a:rPr lang="en-US" sz="1125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Title Optimization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4819650" y="3062139"/>
            <a:ext cx="38473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detailed product titles (80-120 characters). Title length is a significant predictor of sales success.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19650" y="3519339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900"/>
              </a:spcBef>
              <a:buNone/>
            </a:pPr>
            <a:r>
              <a:rPr lang="en-US" sz="825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 key features and benefits</a:t>
            </a:r>
            <a:endParaRPr lang="en-US" sz="825" dirty="0"/>
          </a:p>
        </p:txBody>
      </p:sp>
      <p:pic>
        <p:nvPicPr>
          <p:cNvPr id="23" name="Image 0" descr="/tmp/rasterized-gradient-22cca6c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4142184"/>
            <a:ext cx="8382000" cy="670024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533400" y="4294584"/>
            <a:ext cx="4129088" cy="148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67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Quick Wins for Immediate Impact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533400" y="4499818"/>
            <a:ext cx="823874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 free shipping as default | A/B test discount levels | Improve product descriptions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570458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spcAft>
                <a:spcPts val="1800"/>
              </a:spcAft>
              <a:buNone/>
            </a:pPr>
            <a:r>
              <a:rPr lang="en-US" sz="2700" b="1" dirty="0">
                <a:solidFill>
                  <a:srgbClr val="16A0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 and Next Steps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1794867"/>
            <a:ext cx="2253996" cy="148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67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16A0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1000" y="2133451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3451" y="2167682"/>
            <a:ext cx="649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23900" y="2133451"/>
            <a:ext cx="255350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Discounts drive 9.8x more sales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23900" y="2358182"/>
            <a:ext cx="255350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23% products discounted - huge opportunity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81000" y="2651522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63451" y="2685752"/>
            <a:ext cx="649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23900" y="2651522"/>
            <a:ext cx="207152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$30-$100 is the price sweet spot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23900" y="2876252"/>
            <a:ext cx="207152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items sell 20x more than luxury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1000" y="3169593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63451" y="3203823"/>
            <a:ext cx="649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23900" y="3169593"/>
            <a:ext cx="240898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Chairs and Tables equal 70% of sales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23900" y="3394323"/>
            <a:ext cx="240898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category investment here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81000" y="3687663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63451" y="3721894"/>
            <a:ext cx="649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23900" y="3687663"/>
            <a:ext cx="228041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model explains 34% of variance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23900" y="3912394"/>
            <a:ext cx="228041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and discount are top predictors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204841" y="1127373"/>
            <a:ext cx="3600450" cy="2080617"/>
          </a:xfrm>
          <a:prstGeom prst="roundRect">
            <a:avLst>
              <a:gd name="adj" fmla="val 4578"/>
            </a:avLst>
          </a:prstGeom>
          <a:solidFill>
            <a:srgbClr val="2525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334000" y="1398240"/>
            <a:ext cx="1754554" cy="2050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3"/>
              </a:lnSpc>
              <a:spcAft>
                <a:spcPts val="900"/>
              </a:spcAft>
              <a:buNone/>
            </a:pPr>
            <a:r>
              <a:rPr lang="en-US" sz="975" b="1" dirty="0">
                <a:solidFill>
                  <a:srgbClr val="16A0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DELIVERABLES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5334000" y="1717625"/>
            <a:ext cx="3257550" cy="14859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2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data visualizations</a:t>
            </a:r>
            <a:endParaRPr lang="en-US" sz="200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2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trained ML models</a:t>
            </a:r>
            <a:endParaRPr lang="en-US" sz="200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2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Cleaned dataset (2,000 records)</a:t>
            </a:r>
            <a:endParaRPr lang="en-US" sz="2000" dirty="0"/>
          </a:p>
        </p:txBody>
      </p:sp>
      <p:pic>
        <p:nvPicPr>
          <p:cNvPr id="23" name="Image 0" descr="/tmp/rasterized-gradient-041f553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2550" y="3527375"/>
            <a:ext cx="3600450" cy="1045666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5359718" y="3755975"/>
            <a:ext cx="320611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5359718" y="4171206"/>
            <a:ext cx="320611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Bef>
                <a:spcPts val="750"/>
              </a:spcBef>
              <a:buNone/>
            </a:pPr>
            <a:r>
              <a:rPr lang="en-US" sz="97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and Discussion</a:t>
            </a:r>
            <a:endParaRPr lang="en-US" sz="9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619</Words>
  <Application>Microsoft Office PowerPoint</Application>
  <PresentationFormat>On-screen Show (16:9)</PresentationFormat>
  <Paragraphs>168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 Furniture Sales Analysis</dc:title>
  <dc:subject>Sales Analysis &amp; ML Prediction</dc:subject>
  <dc:creator>Data Science Intern</dc:creator>
  <cp:lastModifiedBy>Sahir dev</cp:lastModifiedBy>
  <cp:revision>2</cp:revision>
  <dcterms:created xsi:type="dcterms:W3CDTF">2025-12-09T09:20:47Z</dcterms:created>
  <dcterms:modified xsi:type="dcterms:W3CDTF">2025-12-09T09:29:39Z</dcterms:modified>
</cp:coreProperties>
</file>